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9" r:id="rId3"/>
    <p:sldId id="257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A152DA-FAC3-3EE5-A64C-E68413C89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Login </a:t>
            </a:r>
            <a:r>
              <a:rPr lang="it-IT" dirty="0" err="1"/>
              <a:t>passwordless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BD60B3-316C-747F-EFDE-4FF66422B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it-IT" dirty="0"/>
              <a:t>Sicurezza dell’Informazione M</a:t>
            </a:r>
          </a:p>
          <a:p>
            <a:pPr algn="r"/>
            <a:r>
              <a:rPr lang="it-IT" dirty="0"/>
              <a:t>Simone Montagnini</a:t>
            </a:r>
          </a:p>
          <a:p>
            <a:pPr algn="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2733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CFC5C5-96A4-E3D3-9F0C-6F29A7E4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Magic Link</a:t>
            </a:r>
            <a:br>
              <a:rPr lang="it-IT" dirty="0"/>
            </a:br>
            <a:r>
              <a:rPr lang="it-IT" dirty="0"/>
              <a:t>il funzionamento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964E2F-14D7-86D7-22A8-8EA137895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L’utente inserisce la propria e-mail nel client.</a:t>
            </a:r>
          </a:p>
          <a:p>
            <a:r>
              <a:rPr lang="it-IT" dirty="0"/>
              <a:t>Il server riceve la richiesta e genera un token univoco.</a:t>
            </a:r>
          </a:p>
          <a:p>
            <a:r>
              <a:rPr lang="it-IT" dirty="0"/>
              <a:t>Il token viene inviato all’utente tramite un link via e-mail.</a:t>
            </a:r>
          </a:p>
          <a:p>
            <a:r>
              <a:rPr lang="it-IT" dirty="0"/>
              <a:t>Al click, il server verifica la validità del token e autorizza l’accesso.</a:t>
            </a:r>
          </a:p>
        </p:txBody>
      </p:sp>
    </p:spTree>
    <p:extLst>
      <p:ext uri="{BB962C8B-B14F-4D97-AF65-F5344CB8AC3E}">
        <p14:creationId xmlns:p14="http://schemas.microsoft.com/office/powerpoint/2010/main" val="1230194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2A7A9E-8D73-60B8-AD02-BE617E0A810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it-IT" sz="2000"/>
              <a:t>Magic Link – Particolarità e sicurezza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097F1B-8C4D-BA8C-AB16-D7035A2473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it-IT" b="1" dirty="0">
                <a:solidFill>
                  <a:schemeClr val="tx1"/>
                </a:solidFill>
              </a:rPr>
              <a:t>Generazione sicura:</a:t>
            </a:r>
            <a:r>
              <a:rPr lang="it-IT" dirty="0">
                <a:solidFill>
                  <a:schemeClr val="tx1"/>
                </a:solidFill>
              </a:rPr>
              <a:t> token di 32 byte creato tramite </a:t>
            </a:r>
            <a:r>
              <a:rPr lang="it-IT" i="1" dirty="0">
                <a:solidFill>
                  <a:schemeClr val="tx1"/>
                </a:solidFill>
              </a:rPr>
              <a:t>PRNG</a:t>
            </a:r>
            <a:r>
              <a:rPr lang="it-IT" dirty="0">
                <a:solidFill>
                  <a:schemeClr val="tx1"/>
                </a:solidFill>
              </a:rPr>
              <a:t> crittograficamente sicuro.</a:t>
            </a:r>
          </a:p>
          <a:p>
            <a:r>
              <a:rPr lang="it-IT" b="1" dirty="0">
                <a:solidFill>
                  <a:schemeClr val="tx1"/>
                </a:solidFill>
              </a:rPr>
              <a:t>Sicurezza a riposo:</a:t>
            </a:r>
            <a:r>
              <a:rPr lang="it-IT" dirty="0">
                <a:solidFill>
                  <a:schemeClr val="tx1"/>
                </a:solidFill>
              </a:rPr>
              <a:t> nel database (</a:t>
            </a:r>
            <a:r>
              <a:rPr lang="it-IT" i="1" dirty="0" err="1">
                <a:solidFill>
                  <a:schemeClr val="tx1"/>
                </a:solidFill>
              </a:rPr>
              <a:t>MongoDB</a:t>
            </a:r>
            <a:r>
              <a:rPr lang="it-IT" dirty="0">
                <a:solidFill>
                  <a:schemeClr val="tx1"/>
                </a:solidFill>
              </a:rPr>
              <a:t>) viene salvato solo </a:t>
            </a:r>
            <a:r>
              <a:rPr lang="it-IT" dirty="0" err="1">
                <a:solidFill>
                  <a:schemeClr val="tx1"/>
                </a:solidFill>
              </a:rPr>
              <a:t>l’hash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i="1" dirty="0">
                <a:solidFill>
                  <a:schemeClr val="tx1"/>
                </a:solidFill>
              </a:rPr>
              <a:t>SHA-256</a:t>
            </a:r>
            <a:r>
              <a:rPr lang="it-IT" dirty="0">
                <a:solidFill>
                  <a:schemeClr val="tx1"/>
                </a:solidFill>
              </a:rPr>
              <a:t> del token, mai in chiaro.</a:t>
            </a:r>
          </a:p>
          <a:p>
            <a:r>
              <a:rPr lang="it-IT" b="1" dirty="0">
                <a:solidFill>
                  <a:schemeClr val="tx1"/>
                </a:solidFill>
              </a:rPr>
              <a:t>Finestra di validità:</a:t>
            </a:r>
            <a:r>
              <a:rPr lang="it-IT" dirty="0">
                <a:solidFill>
                  <a:schemeClr val="tx1"/>
                </a:solidFill>
              </a:rPr>
              <a:t> scadenza rigorosa a 5 minuti per evitare attacchi di brute forcing.</a:t>
            </a:r>
            <a:endParaRPr lang="it-IT" b="1" dirty="0">
              <a:solidFill>
                <a:schemeClr val="tx1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B20AA1E-39C3-3687-8BC0-F2EA82B7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94675"/>
            <a:ext cx="5943610" cy="1188720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3338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4C12300-D0CF-F6D1-7D92-F3C697CD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Fido2 / </a:t>
            </a:r>
            <a:r>
              <a:rPr lang="it-IT" dirty="0" err="1"/>
              <a:t>weBAUTHN</a:t>
            </a:r>
            <a:br>
              <a:rPr lang="it-IT" dirty="0"/>
            </a:br>
            <a:r>
              <a:rPr lang="it-IT" dirty="0"/>
              <a:t>IL FUNZIONAMENTO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78B10BB-98C1-FB60-EF08-602E4B66E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Registrazione:</a:t>
            </a:r>
            <a:r>
              <a:rPr lang="it-IT" dirty="0"/>
              <a:t> l’autenticatore del dispositivo genera una coppia di chiavi crittografiche</a:t>
            </a:r>
          </a:p>
          <a:p>
            <a:r>
              <a:rPr lang="it-IT" dirty="0"/>
              <a:t>Il server memorizza solamente la chiave pubblica nel database </a:t>
            </a:r>
            <a:r>
              <a:rPr lang="it-IT" i="1" dirty="0" err="1"/>
              <a:t>MongoDB</a:t>
            </a:r>
            <a:r>
              <a:rPr lang="it-IT" dirty="0"/>
              <a:t>.</a:t>
            </a:r>
          </a:p>
          <a:p>
            <a:r>
              <a:rPr lang="it-IT" b="1" dirty="0"/>
              <a:t>Login:</a:t>
            </a:r>
            <a:r>
              <a:rPr lang="it-IT" dirty="0"/>
              <a:t> il server genera e invia una challenge crittografica.</a:t>
            </a:r>
          </a:p>
          <a:p>
            <a:r>
              <a:rPr lang="it-IT" dirty="0"/>
              <a:t>L’autenticatore locale verifica l’identità dell’utente e firma la </a:t>
            </a:r>
            <a:r>
              <a:rPr lang="it-IT" i="1" dirty="0"/>
              <a:t>challenge</a:t>
            </a:r>
            <a:r>
              <a:rPr lang="it-IT" dirty="0"/>
              <a:t> con la chiave privata.</a:t>
            </a:r>
          </a:p>
          <a:p>
            <a:r>
              <a:rPr lang="it-IT" dirty="0"/>
              <a:t>Il server decifra la firma e autorizza l’accesso.</a:t>
            </a:r>
          </a:p>
        </p:txBody>
      </p:sp>
    </p:spTree>
    <p:extLst>
      <p:ext uri="{BB962C8B-B14F-4D97-AF65-F5344CB8AC3E}">
        <p14:creationId xmlns:p14="http://schemas.microsoft.com/office/powerpoint/2010/main" val="273422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CA6BB1-45FA-3873-9500-961E4363D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it-IT"/>
              <a:t>FIDO2 / WebAuthn</a:t>
            </a:r>
            <a:br>
              <a:rPr lang="it-IT"/>
            </a:br>
            <a:r>
              <a:rPr lang="it-IT"/>
              <a:t>Registrazione diretta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EE4BCB-9A09-BB31-A4FA-0B7400E68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r>
              <a:rPr lang="it-IT" b="1"/>
              <a:t>Nessun segreto condiviso</a:t>
            </a:r>
            <a:r>
              <a:rPr lang="it-IT"/>
              <a:t>: solo la chiave pubblica e il </a:t>
            </a:r>
            <a:r>
              <a:rPr lang="it-IT" i="1"/>
              <a:t>credentialID</a:t>
            </a:r>
            <a:r>
              <a:rPr lang="it-IT"/>
              <a:t> vengono inviati e salvati sul server. </a:t>
            </a:r>
          </a:p>
          <a:p>
            <a:r>
              <a:rPr lang="it-IT" b="1"/>
              <a:t>Protezione biometrica locale</a:t>
            </a:r>
            <a:r>
              <a:rPr lang="it-IT"/>
              <a:t>: i dati dell’impronta o del pin non transitano in rete, ma rimangono nell’hardware locale.</a:t>
            </a:r>
            <a:endParaRPr lang="it-IT" i="1"/>
          </a:p>
          <a:p>
            <a:r>
              <a:rPr lang="it-IT" b="1"/>
              <a:t>Prevenzione Attacchi di Replay</a:t>
            </a:r>
            <a:r>
              <a:rPr lang="it-IT"/>
              <a:t>: il server utilizza un contatore delle firme (</a:t>
            </a:r>
            <a:r>
              <a:rPr lang="it-IT" i="1"/>
              <a:t>signCount</a:t>
            </a:r>
            <a:r>
              <a:rPr lang="it-IT"/>
              <a:t>) e una challenge monouso per scartare comunicazioni intercettate.</a:t>
            </a:r>
            <a:endParaRPr lang="it-IT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98E36CB-3561-ED84-F158-9BFBA8C95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8" t="1745" r="3488" b="1951"/>
          <a:stretch>
            <a:fillRect/>
          </a:stretch>
        </p:blipFill>
        <p:spPr>
          <a:xfrm>
            <a:off x="7715890" y="1685019"/>
            <a:ext cx="3328416" cy="3495903"/>
          </a:xfrm>
          <a:prstGeom prst="roundRect">
            <a:avLst>
              <a:gd name="adj" fmla="val 4392"/>
            </a:avLst>
          </a:prstGeom>
        </p:spPr>
      </p:pic>
    </p:spTree>
    <p:extLst>
      <p:ext uri="{BB962C8B-B14F-4D97-AF65-F5344CB8AC3E}">
        <p14:creationId xmlns:p14="http://schemas.microsoft.com/office/powerpoint/2010/main" val="3847966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704F-4B19-53B4-64F4-72086366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it-IT" dirty="0"/>
              <a:t>Gestione sessione </a:t>
            </a:r>
            <a:r>
              <a:rPr lang="it-IT" dirty="0" err="1"/>
              <a:t>stateless</a:t>
            </a:r>
            <a:r>
              <a:rPr lang="it-IT" dirty="0"/>
              <a:t> (JWT)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BF61D3-BFFB-EEF3-E185-95FCCFC6C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992" y="2638044"/>
            <a:ext cx="4828030" cy="3101983"/>
          </a:xfrm>
        </p:spPr>
        <p:txBody>
          <a:bodyPr>
            <a:normAutofit/>
          </a:bodyPr>
          <a:lstStyle/>
          <a:p>
            <a:r>
              <a:rPr lang="it-IT" dirty="0"/>
              <a:t>Entrambi i  metodi portano ad un unico sistema di sessione post-login.</a:t>
            </a:r>
          </a:p>
          <a:p>
            <a:r>
              <a:rPr lang="it-IT" dirty="0"/>
              <a:t>Il server emette un </a:t>
            </a:r>
            <a:r>
              <a:rPr lang="it-IT" b="1" dirty="0"/>
              <a:t>JSON Web Token (JWT)</a:t>
            </a:r>
            <a:r>
              <a:rPr lang="it-IT" dirty="0"/>
              <a:t> firmato digitalmente.</a:t>
            </a:r>
          </a:p>
          <a:p>
            <a:r>
              <a:rPr lang="it-IT" dirty="0"/>
              <a:t>Salvato nel </a:t>
            </a:r>
            <a:r>
              <a:rPr lang="it-IT" i="1" dirty="0" err="1"/>
              <a:t>localStorage</a:t>
            </a:r>
            <a:r>
              <a:rPr lang="it-IT" dirty="0"/>
              <a:t> del browser, permette di proteggere le pagine senza mantenere sessioni vulnerabili sul server.</a:t>
            </a:r>
          </a:p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9E09069-C20B-AFEB-393C-654868436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782" y="3084336"/>
            <a:ext cx="3089785" cy="1620253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7558800"/>
      </p:ext>
    </p:extLst>
  </p:cSld>
  <p:clrMapOvr>
    <a:masterClrMapping/>
  </p:clrMapOvr>
</p:sld>
</file>

<file path=ppt/theme/theme1.xml><?xml version="1.0" encoding="utf-8"?>
<a:theme xmlns:a="http://schemas.openxmlformats.org/drawingml/2006/main" name="Pacco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TM10001115[[fn=Pacco]]</Template>
  <TotalTime>146</TotalTime>
  <Words>291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Pacco</vt:lpstr>
      <vt:lpstr>Login passwordless</vt:lpstr>
      <vt:lpstr>Magic Link il funzionamento</vt:lpstr>
      <vt:lpstr>Magic Link – Particolarità e sicurezza</vt:lpstr>
      <vt:lpstr>Fido2 / weBAUTHN IL FUNZIONAMENTO</vt:lpstr>
      <vt:lpstr>FIDO2 / WebAuthn Registrazione diretta</vt:lpstr>
      <vt:lpstr>Gestione sessione stateless (JWT)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Montagnini - simone.montagnini@studio.unibo.it</dc:creator>
  <cp:lastModifiedBy>Simone Montagnini - simone.montagnini@studio.unibo.it</cp:lastModifiedBy>
  <cp:revision>6</cp:revision>
  <dcterms:created xsi:type="dcterms:W3CDTF">2026-03-12T14:31:55Z</dcterms:created>
  <dcterms:modified xsi:type="dcterms:W3CDTF">2026-03-16T11:01:14Z</dcterms:modified>
</cp:coreProperties>
</file>